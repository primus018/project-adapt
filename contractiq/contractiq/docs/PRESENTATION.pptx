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77724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Calibri"/>
              </a:rPr>
              <a:t>ContractIQ</a:t>
            </a:r>
          </a:p>
          <a:p>
            <a:r>
              <a:rPr sz="1600" b="0">
                <a:solidFill>
                  <a:srgbClr val="475569"/>
                </a:solidFill>
                <a:latin typeface="Calibri"/>
              </a:rPr>
              <a:t>Topic 1 — Confidence-Gated Corrective RAG</a:t>
            </a:r>
            <a:br/>
            <a:r>
              <a:t>Raunak Rathi · M.Tech · 50% scope delivery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72A"/>
                </a:solidFill>
                <a:latin typeface="Calibri"/>
              </a:rPr>
              <a:t>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334155"/>
                </a:solidFill>
                <a:latin typeface="Calibri"/>
              </a:rPr>
              <a:t>• Vanilla RAG hallucinates when retrieval is imperfect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334155"/>
                </a:solidFill>
                <a:latin typeface="Calibri"/>
              </a:rPr>
              <a:t>• Domain contracts need grounded clause answers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334155"/>
                </a:solidFill>
                <a:latin typeface="Calibri"/>
              </a:rPr>
              <a:t>• Corrective RAG can grade context and recover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72A"/>
                </a:solidFill>
                <a:latin typeface="Calibri"/>
              </a:rPr>
              <a:t>Related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334155"/>
                </a:solidFill>
                <a:latin typeface="Calibri"/>
              </a:rPr>
              <a:t>• CRAG (Yan et al., 2024) — retrieval quality + correction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334155"/>
                </a:solidFill>
                <a:latin typeface="Calibri"/>
              </a:rPr>
              <a:t>• Adaptive-RAG (Jeong et al., 2024) — complexity routing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334155"/>
                </a:solidFill>
                <a:latin typeface="Calibri"/>
              </a:rPr>
              <a:t>• Astute RAG — knowledge conflict handling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72A"/>
                </a:solidFill>
                <a:latin typeface="Calibri"/>
              </a:rPr>
              <a:t>Proposed Method (Implemented)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334155"/>
                </a:solidFill>
                <a:latin typeface="Calibri"/>
              </a:rPr>
              <a:t>• Dense retrieval with BGE embeddings (demo lexical fallback)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334155"/>
                </a:solidFill>
                <a:latin typeface="Calibri"/>
              </a:rPr>
              <a:t>• Grade passages: CORRECT / AMBIGUOUS / INCORRECT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334155"/>
                </a:solidFill>
                <a:latin typeface="Calibri"/>
              </a:rPr>
              <a:t>• Actions: ACCEPT · RE_RETRIEVE · WEB_SEARCH (stub)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334155"/>
                </a:solidFill>
                <a:latin typeface="Calibri"/>
              </a:rPr>
              <a:t>• Generate answer only from filtered passages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72A"/>
                </a:solidFill>
                <a:latin typeface="Calibri"/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334155"/>
                </a:solidFill>
                <a:latin typeface="Calibri"/>
              </a:rPr>
              <a:t>• React dashboard (upload, QA, grades, history, upcoming)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334155"/>
                </a:solidFill>
                <a:latin typeface="Calibri"/>
              </a:rPr>
              <a:t>• FastAPI + SQLite persistence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334155"/>
                </a:solidFill>
                <a:latin typeface="Calibri"/>
              </a:rPr>
              <a:t>• Core module: RetrievalEvaluator + ContractQA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334155"/>
                </a:solidFill>
                <a:latin typeface="Calibri"/>
              </a:rPr>
              <a:t>• DEMO_MODE for demos without GPU models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72A"/>
                </a:solidFill>
                <a:latin typeface="Calibri"/>
              </a:rPr>
              <a:t>Demo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334155"/>
                </a:solidFill>
                <a:latin typeface="Calibri"/>
              </a:rPr>
              <a:t>• Upload sample_contract.txt or a PDF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334155"/>
                </a:solidFill>
                <a:latin typeface="Calibri"/>
              </a:rPr>
              <a:t>• Ask: What is the termination notice period?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334155"/>
                </a:solidFill>
                <a:latin typeface="Calibri"/>
              </a:rPr>
              <a:t>• Inspect passage grades and corrective action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334155"/>
                </a:solidFill>
                <a:latin typeface="Calibri"/>
              </a:rPr>
              <a:t>• Track correction rate on the dashboard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72A"/>
                </a:solidFill>
                <a:latin typeface="Calibri"/>
              </a:rPr>
              <a:t>Upcoming Features (remaining 50%)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334155"/>
                </a:solidFill>
                <a:latin typeface="Calibri"/>
              </a:rPr>
              <a:t>• RAG efficiency upgrades (cache, ANN, fewer NLI calls)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334155"/>
                </a:solidFill>
                <a:latin typeface="Calibri"/>
              </a:rPr>
              <a:t>• Live web-search recovery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334155"/>
                </a:solidFill>
                <a:latin typeface="Calibri"/>
              </a:rPr>
              <a:t>• Adaptive-RAG complexity routing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334155"/>
                </a:solidFill>
                <a:latin typeface="Calibri"/>
              </a:rPr>
              <a:t>• Latency and cost overhead study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72A"/>
                </a:solidFill>
                <a:latin typeface="Calibri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334155"/>
                </a:solidFill>
                <a:latin typeface="Calibri"/>
              </a:rPr>
              <a:t>• Delivered the corrective RAG evaluator module end-to-end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334155"/>
                </a:solidFill>
                <a:latin typeface="Calibri"/>
              </a:rPr>
              <a:t>• Modern UI makes grades and actions observable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334155"/>
                </a:solidFill>
                <a:latin typeface="Calibri"/>
              </a:rPr>
              <a:t>• Clear roadmap for full Topic 1 research goals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334155"/>
                </a:solidFill>
                <a:latin typeface="Calibri"/>
              </a:rPr>
              <a:t>• Thank you —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